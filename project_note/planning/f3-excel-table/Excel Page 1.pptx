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7" r:id="rId2"/>
    <p:sldId id="258" r:id="rId3"/>
    <p:sldId id="259" r:id="rId4"/>
    <p:sldId id="260" r:id="rId5"/>
  </p:sldIdLst>
  <p:sldSz cx="126365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1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50D2A4-C7A0-4595-B907-153EA7AE60E9}" type="datetimeFigureOut">
              <a:rPr lang="en-AU" smtClean="0"/>
              <a:t>18/11/2025</a:t>
            </a:fld>
            <a:endParaRPr lang="en-AU"/>
          </a:p>
        </p:txBody>
      </p:sp>
      <p:sp>
        <p:nvSpPr>
          <p:cNvPr id="4" name="Slide Image Placeholder 3"/>
          <p:cNvSpPr>
            <a:spLocks noGrp="1" noRot="1" noChangeAspect="1"/>
          </p:cNvSpPr>
          <p:nvPr>
            <p:ph type="sldImg" idx="2"/>
          </p:nvPr>
        </p:nvSpPr>
        <p:spPr>
          <a:xfrm>
            <a:off x="585788" y="1143000"/>
            <a:ext cx="56864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64994-FC9A-449C-B789-43E53DFBC6B6}" type="slidenum">
              <a:rPr lang="en-AU" smtClean="0"/>
              <a:t>‹#›</a:t>
            </a:fld>
            <a:endParaRPr lang="en-AU"/>
          </a:p>
        </p:txBody>
      </p:sp>
    </p:spTree>
    <p:extLst>
      <p:ext uri="{BB962C8B-B14F-4D97-AF65-F5344CB8AC3E}">
        <p14:creationId xmlns:p14="http://schemas.microsoft.com/office/powerpoint/2010/main" val="199021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5788" y="1143000"/>
            <a:ext cx="5686425" cy="308610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7C64994-FC9A-449C-B789-43E53DFBC6B6}" type="slidenum">
              <a:rPr lang="en-AU" smtClean="0"/>
              <a:t>1</a:t>
            </a:fld>
            <a:endParaRPr lang="en-AU"/>
          </a:p>
        </p:txBody>
      </p:sp>
    </p:spTree>
    <p:extLst>
      <p:ext uri="{BB962C8B-B14F-4D97-AF65-F5344CB8AC3E}">
        <p14:creationId xmlns:p14="http://schemas.microsoft.com/office/powerpoint/2010/main" val="3537488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F7C64994-FC9A-449C-B789-43E53DFBC6B6}" type="slidenum">
              <a:rPr lang="en-AU" smtClean="0"/>
              <a:t>3</a:t>
            </a:fld>
            <a:endParaRPr lang="en-AU"/>
          </a:p>
        </p:txBody>
      </p:sp>
    </p:spTree>
    <p:extLst>
      <p:ext uri="{BB962C8B-B14F-4D97-AF65-F5344CB8AC3E}">
        <p14:creationId xmlns:p14="http://schemas.microsoft.com/office/powerpoint/2010/main" val="2144375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79563" y="1122363"/>
            <a:ext cx="9477375"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579563" y="3602038"/>
            <a:ext cx="9477375"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8D1186B9-5876-4863-967A-AA0861F2276D}" type="datetimeFigureOut">
              <a:rPr lang="en-AU" smtClean="0"/>
              <a:t>18/11/2025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2778580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D1186B9-5876-4863-967A-AA0861F2276D}" type="datetimeFigureOut">
              <a:rPr lang="en-AU" smtClean="0"/>
              <a:t>18/11/2025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3464767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2178" y="1709739"/>
            <a:ext cx="10898981"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862178" y="4589464"/>
            <a:ext cx="10898981"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8D1186B9-5876-4863-967A-AA0861F2276D}" type="datetimeFigureOut">
              <a:rPr lang="en-AU" smtClean="0"/>
              <a:t>18/11/2025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857436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868759" y="1825625"/>
            <a:ext cx="5370513"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397228" y="1825625"/>
            <a:ext cx="5370513"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8D1186B9-5876-4863-967A-AA0861F2276D}" type="datetimeFigureOut">
              <a:rPr lang="en-AU" smtClean="0"/>
              <a:t>18/11/2025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1074401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70405" y="365126"/>
            <a:ext cx="10898981"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870406" y="1681163"/>
            <a:ext cx="534583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870406" y="2505075"/>
            <a:ext cx="534583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397228" y="1681163"/>
            <a:ext cx="537215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397228" y="2505075"/>
            <a:ext cx="537215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8D1186B9-5876-4863-967A-AA0861F2276D}" type="datetimeFigureOut">
              <a:rPr lang="en-AU" smtClean="0"/>
              <a:t>18/11/2025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365240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8D1186B9-5876-4863-967A-AA0861F2276D}" type="datetimeFigureOut">
              <a:rPr lang="en-AU" smtClean="0"/>
              <a:t>18/11/2025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3814108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1186B9-5876-4863-967A-AA0861F2276D}" type="datetimeFigureOut">
              <a:rPr lang="en-AU" smtClean="0"/>
              <a:t>18/11/2025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2692852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06" y="457200"/>
            <a:ext cx="4075600"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5372158" y="987426"/>
            <a:ext cx="639722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870406" y="2057400"/>
            <a:ext cx="407560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D1186B9-5876-4863-967A-AA0861F2276D}" type="datetimeFigureOut">
              <a:rPr lang="en-AU" smtClean="0"/>
              <a:t>18/11/2025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3407182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06" y="457200"/>
            <a:ext cx="4075600"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5372158" y="987426"/>
            <a:ext cx="6397228"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870406" y="2057400"/>
            <a:ext cx="407560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D1186B9-5876-4863-967A-AA0861F2276D}" type="datetimeFigureOut">
              <a:rPr lang="en-AU" smtClean="0"/>
              <a:t>18/11/2025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517813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D1186B9-5876-4863-967A-AA0861F2276D}" type="datetimeFigureOut">
              <a:rPr lang="en-AU" smtClean="0"/>
              <a:t>18/11/2025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235951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995" y="365125"/>
            <a:ext cx="2724745"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68759" y="365125"/>
            <a:ext cx="801628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D1186B9-5876-4863-967A-AA0861F2276D}" type="datetimeFigureOut">
              <a:rPr lang="en-AU" smtClean="0"/>
              <a:t>18/11/2025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52BFB9F-0FCA-4165-B79E-968098880E88}" type="slidenum">
              <a:rPr lang="en-AU" smtClean="0"/>
              <a:t>‹#›</a:t>
            </a:fld>
            <a:endParaRPr lang="en-AU"/>
          </a:p>
        </p:txBody>
      </p:sp>
    </p:spTree>
    <p:extLst>
      <p:ext uri="{BB962C8B-B14F-4D97-AF65-F5344CB8AC3E}">
        <p14:creationId xmlns:p14="http://schemas.microsoft.com/office/powerpoint/2010/main" val="544165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8760" y="365126"/>
            <a:ext cx="10898981"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868760" y="1825625"/>
            <a:ext cx="10898981"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868759" y="6356351"/>
            <a:ext cx="2843213"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1186B9-5876-4863-967A-AA0861F2276D}" type="datetimeFigureOut">
              <a:rPr lang="en-AU" smtClean="0"/>
              <a:t>18/11/2025</a:t>
            </a:fld>
            <a:endParaRPr lang="en-AU"/>
          </a:p>
        </p:txBody>
      </p:sp>
      <p:sp>
        <p:nvSpPr>
          <p:cNvPr id="5" name="Footer Placeholder 4"/>
          <p:cNvSpPr>
            <a:spLocks noGrp="1"/>
          </p:cNvSpPr>
          <p:nvPr>
            <p:ph type="ftr" sz="quarter" idx="3"/>
          </p:nvPr>
        </p:nvSpPr>
        <p:spPr>
          <a:xfrm>
            <a:off x="4185841" y="6356351"/>
            <a:ext cx="4264819"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p:cNvSpPr>
            <a:spLocks noGrp="1"/>
          </p:cNvSpPr>
          <p:nvPr>
            <p:ph type="sldNum" sz="quarter" idx="4"/>
          </p:nvPr>
        </p:nvSpPr>
        <p:spPr>
          <a:xfrm>
            <a:off x="8924528" y="6356351"/>
            <a:ext cx="2843213"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2BFB9F-0FCA-4165-B79E-968098880E88}" type="slidenum">
              <a:rPr lang="en-AU" smtClean="0"/>
              <a:t>‹#›</a:t>
            </a:fld>
            <a:endParaRPr lang="en-AU"/>
          </a:p>
        </p:txBody>
      </p:sp>
    </p:spTree>
    <p:extLst>
      <p:ext uri="{BB962C8B-B14F-4D97-AF65-F5344CB8AC3E}">
        <p14:creationId xmlns:p14="http://schemas.microsoft.com/office/powerpoint/2010/main" val="3480727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22E721F1-29A1-DE11-36FA-9505EA8D3E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87" y="164592"/>
            <a:ext cx="8072492" cy="6629400"/>
          </a:xfrm>
          <a:prstGeom prst="rect">
            <a:avLst/>
          </a:prstGeom>
        </p:spPr>
      </p:pic>
      <p:sp>
        <p:nvSpPr>
          <p:cNvPr id="6" name="Rectangle 5">
            <a:extLst>
              <a:ext uri="{FF2B5EF4-FFF2-40B4-BE49-F238E27FC236}">
                <a16:creationId xmlns:a16="http://schemas.microsoft.com/office/drawing/2014/main" id="{BC82CB79-FD3F-9409-4232-E0B9FD858A93}"/>
              </a:ext>
            </a:extLst>
          </p:cNvPr>
          <p:cNvSpPr/>
          <p:nvPr/>
        </p:nvSpPr>
        <p:spPr>
          <a:xfrm>
            <a:off x="743792" y="228600"/>
            <a:ext cx="2212515" cy="178308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8" name="Straight Arrow Connector 7">
            <a:extLst>
              <a:ext uri="{FF2B5EF4-FFF2-40B4-BE49-F238E27FC236}">
                <a16:creationId xmlns:a16="http://schemas.microsoft.com/office/drawing/2014/main" id="{DB703AB2-6355-B4D0-AC3C-6FA4708A53BB}"/>
              </a:ext>
            </a:extLst>
          </p:cNvPr>
          <p:cNvCxnSpPr>
            <a:cxnSpLocks/>
          </p:cNvCxnSpPr>
          <p:nvPr/>
        </p:nvCxnSpPr>
        <p:spPr>
          <a:xfrm>
            <a:off x="4940554" y="228600"/>
            <a:ext cx="3968496"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F44C50AE-6DDE-3D94-7ACA-24BD4C82FBD0}"/>
              </a:ext>
            </a:extLst>
          </p:cNvPr>
          <p:cNvSpPr/>
          <p:nvPr/>
        </p:nvSpPr>
        <p:spPr>
          <a:xfrm>
            <a:off x="3002026" y="228600"/>
            <a:ext cx="5504688" cy="95097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80F4E5A4-5F82-1C54-4F73-15358A0ED583}"/>
              </a:ext>
            </a:extLst>
          </p:cNvPr>
          <p:cNvSpPr txBox="1"/>
          <p:nvPr/>
        </p:nvSpPr>
        <p:spPr>
          <a:xfrm>
            <a:off x="8973058" y="164593"/>
            <a:ext cx="2724912" cy="646331"/>
          </a:xfrm>
          <a:prstGeom prst="rect">
            <a:avLst/>
          </a:prstGeom>
          <a:noFill/>
        </p:spPr>
        <p:txBody>
          <a:bodyPr wrap="square" rtlCol="0">
            <a:spAutoFit/>
          </a:bodyPr>
          <a:lstStyle/>
          <a:p>
            <a:r>
              <a:rPr lang="en-AU" dirty="0"/>
              <a:t>Read in from an excel file row</a:t>
            </a:r>
          </a:p>
        </p:txBody>
      </p:sp>
      <p:pic>
        <p:nvPicPr>
          <p:cNvPr id="14" name="Picture 13">
            <a:extLst>
              <a:ext uri="{FF2B5EF4-FFF2-40B4-BE49-F238E27FC236}">
                <a16:creationId xmlns:a16="http://schemas.microsoft.com/office/drawing/2014/main" id="{D510EE2A-3461-CBB3-E501-F4369133A3E7}"/>
              </a:ext>
            </a:extLst>
          </p:cNvPr>
          <p:cNvPicPr>
            <a:picLocks noChangeAspect="1"/>
          </p:cNvPicPr>
          <p:nvPr/>
        </p:nvPicPr>
        <p:blipFill>
          <a:blip r:embed="rId4"/>
          <a:stretch>
            <a:fillRect/>
          </a:stretch>
        </p:blipFill>
        <p:spPr>
          <a:xfrm>
            <a:off x="8973058" y="1007670"/>
            <a:ext cx="9592752" cy="1633930"/>
          </a:xfrm>
          <a:prstGeom prst="rect">
            <a:avLst/>
          </a:prstGeom>
        </p:spPr>
      </p:pic>
      <p:sp>
        <p:nvSpPr>
          <p:cNvPr id="15" name="Rectangle 14">
            <a:extLst>
              <a:ext uri="{FF2B5EF4-FFF2-40B4-BE49-F238E27FC236}">
                <a16:creationId xmlns:a16="http://schemas.microsoft.com/office/drawing/2014/main" id="{746B59F0-DBD4-878F-9F62-DCA38E10E847}"/>
              </a:ext>
            </a:extLst>
          </p:cNvPr>
          <p:cNvSpPr/>
          <p:nvPr/>
        </p:nvSpPr>
        <p:spPr>
          <a:xfrm>
            <a:off x="3102610" y="1243580"/>
            <a:ext cx="5199950" cy="768100"/>
          </a:xfrm>
          <a:prstGeom prst="rect">
            <a:avLst/>
          </a:prstGeom>
          <a:no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6" name="Straight Arrow Connector 15">
            <a:extLst>
              <a:ext uri="{FF2B5EF4-FFF2-40B4-BE49-F238E27FC236}">
                <a16:creationId xmlns:a16="http://schemas.microsoft.com/office/drawing/2014/main" id="{6F87C59F-C66F-208E-F5D4-0B71E603F99D}"/>
              </a:ext>
            </a:extLst>
          </p:cNvPr>
          <p:cNvCxnSpPr>
            <a:cxnSpLocks/>
          </p:cNvCxnSpPr>
          <p:nvPr/>
        </p:nvCxnSpPr>
        <p:spPr>
          <a:xfrm>
            <a:off x="8190594" y="2011680"/>
            <a:ext cx="1343297" cy="1296936"/>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8ED56B2-0A71-72FC-40FF-BBAB162AF1B4}"/>
              </a:ext>
            </a:extLst>
          </p:cNvPr>
          <p:cNvSpPr txBox="1"/>
          <p:nvPr/>
        </p:nvSpPr>
        <p:spPr>
          <a:xfrm>
            <a:off x="9533891" y="3150542"/>
            <a:ext cx="2505123" cy="369332"/>
          </a:xfrm>
          <a:prstGeom prst="rect">
            <a:avLst/>
          </a:prstGeom>
          <a:noFill/>
        </p:spPr>
        <p:txBody>
          <a:bodyPr wrap="square" rtlCol="0">
            <a:spAutoFit/>
          </a:bodyPr>
          <a:lstStyle/>
          <a:p>
            <a:r>
              <a:rPr lang="en-AU" dirty="0"/>
              <a:t>User must manually fill</a:t>
            </a:r>
          </a:p>
        </p:txBody>
      </p:sp>
      <p:sp>
        <p:nvSpPr>
          <p:cNvPr id="20" name="Rectangle 19">
            <a:extLst>
              <a:ext uri="{FF2B5EF4-FFF2-40B4-BE49-F238E27FC236}">
                <a16:creationId xmlns:a16="http://schemas.microsoft.com/office/drawing/2014/main" id="{3E55D57E-F76C-2D05-EB0A-2689C4FE91E3}"/>
              </a:ext>
            </a:extLst>
          </p:cNvPr>
          <p:cNvSpPr/>
          <p:nvPr/>
        </p:nvSpPr>
        <p:spPr>
          <a:xfrm>
            <a:off x="743791" y="2103115"/>
            <a:ext cx="4852892" cy="3383285"/>
          </a:xfrm>
          <a:prstGeom prst="rect">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Arrow Connector 20">
            <a:extLst>
              <a:ext uri="{FF2B5EF4-FFF2-40B4-BE49-F238E27FC236}">
                <a16:creationId xmlns:a16="http://schemas.microsoft.com/office/drawing/2014/main" id="{886186AB-0920-7F1B-BBD7-36AB5B4AA5AE}"/>
              </a:ext>
            </a:extLst>
          </p:cNvPr>
          <p:cNvCxnSpPr>
            <a:cxnSpLocks/>
          </p:cNvCxnSpPr>
          <p:nvPr/>
        </p:nvCxnSpPr>
        <p:spPr>
          <a:xfrm>
            <a:off x="5596684" y="5091696"/>
            <a:ext cx="3554963" cy="52272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7DA823E1-4675-0255-1F18-BE0EB15F22C1}"/>
              </a:ext>
            </a:extLst>
          </p:cNvPr>
          <p:cNvSpPr txBox="1"/>
          <p:nvPr/>
        </p:nvSpPr>
        <p:spPr>
          <a:xfrm>
            <a:off x="9082953" y="5480999"/>
            <a:ext cx="2505123" cy="1200329"/>
          </a:xfrm>
          <a:prstGeom prst="rect">
            <a:avLst/>
          </a:prstGeom>
          <a:noFill/>
        </p:spPr>
        <p:txBody>
          <a:bodyPr wrap="square" rtlCol="0">
            <a:spAutoFit/>
          </a:bodyPr>
          <a:lstStyle/>
          <a:p>
            <a:r>
              <a:rPr lang="en-AU" dirty="0"/>
              <a:t>User must click and select from a drop down menu or a pop up page/ pop up canvas.</a:t>
            </a:r>
          </a:p>
        </p:txBody>
      </p:sp>
      <p:sp>
        <p:nvSpPr>
          <p:cNvPr id="25" name="Rectangle 24">
            <a:extLst>
              <a:ext uri="{FF2B5EF4-FFF2-40B4-BE49-F238E27FC236}">
                <a16:creationId xmlns:a16="http://schemas.microsoft.com/office/drawing/2014/main" id="{8EFAF1D2-B880-C81C-BD37-196E27D939FE}"/>
              </a:ext>
            </a:extLst>
          </p:cNvPr>
          <p:cNvSpPr/>
          <p:nvPr/>
        </p:nvSpPr>
        <p:spPr>
          <a:xfrm>
            <a:off x="5742988" y="2135120"/>
            <a:ext cx="1583695" cy="3383285"/>
          </a:xfrm>
          <a:prstGeom prst="rect">
            <a:avLst/>
          </a:prstGeom>
          <a:no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6" name="Straight Arrow Connector 25">
            <a:extLst>
              <a:ext uri="{FF2B5EF4-FFF2-40B4-BE49-F238E27FC236}">
                <a16:creationId xmlns:a16="http://schemas.microsoft.com/office/drawing/2014/main" id="{476F5082-B4A5-2EDA-E1FB-F737541E319C}"/>
              </a:ext>
            </a:extLst>
          </p:cNvPr>
          <p:cNvCxnSpPr>
            <a:cxnSpLocks/>
          </p:cNvCxnSpPr>
          <p:nvPr/>
        </p:nvCxnSpPr>
        <p:spPr>
          <a:xfrm>
            <a:off x="7231488" y="3998224"/>
            <a:ext cx="2302402" cy="31440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DE36B176-274E-032B-6CA8-DA49516E400E}"/>
              </a:ext>
            </a:extLst>
          </p:cNvPr>
          <p:cNvSpPr txBox="1"/>
          <p:nvPr/>
        </p:nvSpPr>
        <p:spPr>
          <a:xfrm>
            <a:off x="9533891" y="3632210"/>
            <a:ext cx="2505123" cy="1754326"/>
          </a:xfrm>
          <a:prstGeom prst="rect">
            <a:avLst/>
          </a:prstGeom>
          <a:noFill/>
        </p:spPr>
        <p:txBody>
          <a:bodyPr wrap="square" rtlCol="0">
            <a:spAutoFit/>
          </a:bodyPr>
          <a:lstStyle/>
          <a:p>
            <a:r>
              <a:rPr lang="en-AU" dirty="0"/>
              <a:t>This is filled automatically based on user’s selection in the orange boxes. (there is a simple rule-base mapping)</a:t>
            </a:r>
          </a:p>
        </p:txBody>
      </p:sp>
      <p:sp>
        <p:nvSpPr>
          <p:cNvPr id="29" name="Rectangle 28">
            <a:extLst>
              <a:ext uri="{FF2B5EF4-FFF2-40B4-BE49-F238E27FC236}">
                <a16:creationId xmlns:a16="http://schemas.microsoft.com/office/drawing/2014/main" id="{32450761-3FB0-BF19-69C0-5EC3F3345A6E}"/>
              </a:ext>
            </a:extLst>
          </p:cNvPr>
          <p:cNvSpPr/>
          <p:nvPr/>
        </p:nvSpPr>
        <p:spPr>
          <a:xfrm>
            <a:off x="956870" y="5588760"/>
            <a:ext cx="6274618" cy="95097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Rectangle 38">
            <a:extLst>
              <a:ext uri="{FF2B5EF4-FFF2-40B4-BE49-F238E27FC236}">
                <a16:creationId xmlns:a16="http://schemas.microsoft.com/office/drawing/2014/main" id="{E205C5B9-95B6-D9AF-7BEE-CDF4B92ADB0B}"/>
              </a:ext>
            </a:extLst>
          </p:cNvPr>
          <p:cNvSpPr/>
          <p:nvPr/>
        </p:nvSpPr>
        <p:spPr>
          <a:xfrm>
            <a:off x="7472986" y="2128594"/>
            <a:ext cx="829574" cy="441113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AAD2A7E0-0292-8087-BE95-5D832852F925}"/>
              </a:ext>
            </a:extLst>
          </p:cNvPr>
          <p:cNvSpPr txBox="1"/>
          <p:nvPr/>
        </p:nvSpPr>
        <p:spPr>
          <a:xfrm>
            <a:off x="7502893" y="2290817"/>
            <a:ext cx="687701" cy="646331"/>
          </a:xfrm>
          <a:prstGeom prst="rect">
            <a:avLst/>
          </a:prstGeom>
          <a:solidFill>
            <a:schemeClr val="bg1"/>
          </a:solidFill>
        </p:spPr>
        <p:txBody>
          <a:bodyPr wrap="square" rtlCol="0">
            <a:spAutoFit/>
          </a:bodyPr>
          <a:lstStyle/>
          <a:p>
            <a:r>
              <a:rPr lang="en-AU" dirty="0"/>
              <a:t>Ignore</a:t>
            </a:r>
          </a:p>
        </p:txBody>
      </p:sp>
      <p:cxnSp>
        <p:nvCxnSpPr>
          <p:cNvPr id="2" name="Straight Arrow Connector 1">
            <a:extLst>
              <a:ext uri="{FF2B5EF4-FFF2-40B4-BE49-F238E27FC236}">
                <a16:creationId xmlns:a16="http://schemas.microsoft.com/office/drawing/2014/main" id="{7AC387D3-9907-D862-59C4-EF8BC342C2C7}"/>
              </a:ext>
            </a:extLst>
          </p:cNvPr>
          <p:cNvCxnSpPr>
            <a:cxnSpLocks/>
            <a:endCxn id="24" idx="1"/>
          </p:cNvCxnSpPr>
          <p:nvPr/>
        </p:nvCxnSpPr>
        <p:spPr>
          <a:xfrm flipV="1">
            <a:off x="7231488" y="6081164"/>
            <a:ext cx="1851465" cy="14836"/>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8034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47521EF9-1BA2-632A-7ED9-6E1073555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487" y="164592"/>
            <a:ext cx="8072492" cy="6629400"/>
          </a:xfrm>
          <a:prstGeom prst="rect">
            <a:avLst/>
          </a:prstGeom>
        </p:spPr>
      </p:pic>
      <p:sp>
        <p:nvSpPr>
          <p:cNvPr id="6" name="Rectangle 5">
            <a:extLst>
              <a:ext uri="{FF2B5EF4-FFF2-40B4-BE49-F238E27FC236}">
                <a16:creationId xmlns:a16="http://schemas.microsoft.com/office/drawing/2014/main" id="{66193966-3602-6F3B-5D3E-54E0AC174EC8}"/>
              </a:ext>
            </a:extLst>
          </p:cNvPr>
          <p:cNvSpPr/>
          <p:nvPr/>
        </p:nvSpPr>
        <p:spPr>
          <a:xfrm>
            <a:off x="946150" y="635000"/>
            <a:ext cx="590550" cy="152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700" dirty="0">
                <a:solidFill>
                  <a:schemeClr val="tx1"/>
                </a:solidFill>
              </a:rPr>
              <a:t>Event ID</a:t>
            </a:r>
            <a:endParaRPr lang="zh-CN" altLang="en-US" sz="700" dirty="0">
              <a:solidFill>
                <a:schemeClr val="tx1"/>
              </a:solidFill>
            </a:endParaRPr>
          </a:p>
        </p:txBody>
      </p:sp>
      <p:sp>
        <p:nvSpPr>
          <p:cNvPr id="8" name="Rectangle 7">
            <a:extLst>
              <a:ext uri="{FF2B5EF4-FFF2-40B4-BE49-F238E27FC236}">
                <a16:creationId xmlns:a16="http://schemas.microsoft.com/office/drawing/2014/main" id="{82A00A6D-FF17-3122-312A-0CD7EAA065D4}"/>
              </a:ext>
            </a:extLst>
          </p:cNvPr>
          <p:cNvSpPr/>
          <p:nvPr/>
        </p:nvSpPr>
        <p:spPr>
          <a:xfrm>
            <a:off x="1590088" y="635000"/>
            <a:ext cx="590550" cy="152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700" dirty="0">
                <a:solidFill>
                  <a:schemeClr val="tx1"/>
                </a:solidFill>
              </a:rPr>
              <a:t>Company</a:t>
            </a:r>
            <a:endParaRPr lang="zh-CN" altLang="en-US" sz="700" dirty="0">
              <a:solidFill>
                <a:schemeClr val="tx1"/>
              </a:solidFill>
            </a:endParaRPr>
          </a:p>
        </p:txBody>
      </p:sp>
      <p:sp>
        <p:nvSpPr>
          <p:cNvPr id="9" name="Rectangle 8">
            <a:extLst>
              <a:ext uri="{FF2B5EF4-FFF2-40B4-BE49-F238E27FC236}">
                <a16:creationId xmlns:a16="http://schemas.microsoft.com/office/drawing/2014/main" id="{182609C4-1264-BB3D-95FD-591BFD71BB38}"/>
              </a:ext>
            </a:extLst>
          </p:cNvPr>
          <p:cNvSpPr/>
          <p:nvPr/>
        </p:nvSpPr>
        <p:spPr>
          <a:xfrm>
            <a:off x="1590089" y="1220216"/>
            <a:ext cx="768937"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700" dirty="0">
                <a:solidFill>
                  <a:schemeClr val="tx1"/>
                </a:solidFill>
              </a:rPr>
              <a:t>Event Abstract</a:t>
            </a:r>
            <a:endParaRPr lang="zh-CN" altLang="en-US" sz="700" dirty="0">
              <a:solidFill>
                <a:schemeClr val="tx1"/>
              </a:solidFill>
            </a:endParaRPr>
          </a:p>
        </p:txBody>
      </p:sp>
      <p:sp>
        <p:nvSpPr>
          <p:cNvPr id="10" name="Rectangle 9">
            <a:extLst>
              <a:ext uri="{FF2B5EF4-FFF2-40B4-BE49-F238E27FC236}">
                <a16:creationId xmlns:a16="http://schemas.microsoft.com/office/drawing/2014/main" id="{A0D8B180-B30B-7B8D-0DC3-CB9D9A665438}"/>
              </a:ext>
            </a:extLst>
          </p:cNvPr>
          <p:cNvSpPr/>
          <p:nvPr/>
        </p:nvSpPr>
        <p:spPr>
          <a:xfrm>
            <a:off x="3131665" y="540004"/>
            <a:ext cx="480485"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700" dirty="0">
                <a:solidFill>
                  <a:schemeClr val="tx1"/>
                </a:solidFill>
              </a:rPr>
              <a:t>Date</a:t>
            </a:r>
            <a:endParaRPr lang="zh-CN" altLang="en-US" sz="700" dirty="0">
              <a:solidFill>
                <a:schemeClr val="tx1"/>
              </a:solidFill>
            </a:endParaRPr>
          </a:p>
        </p:txBody>
      </p:sp>
      <p:sp>
        <p:nvSpPr>
          <p:cNvPr id="11" name="Rectangle 10">
            <a:extLst>
              <a:ext uri="{FF2B5EF4-FFF2-40B4-BE49-F238E27FC236}">
                <a16:creationId xmlns:a16="http://schemas.microsoft.com/office/drawing/2014/main" id="{F3BE186C-7BB7-B661-B84E-CF3EE02D2BA8}"/>
              </a:ext>
            </a:extLst>
          </p:cNvPr>
          <p:cNvSpPr/>
          <p:nvPr/>
        </p:nvSpPr>
        <p:spPr>
          <a:xfrm>
            <a:off x="3775603" y="540004"/>
            <a:ext cx="539223"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700" dirty="0">
                <a:solidFill>
                  <a:schemeClr val="tx1"/>
                </a:solidFill>
              </a:rPr>
              <a:t>Plane Type</a:t>
            </a:r>
            <a:endParaRPr lang="zh-CN" altLang="en-US" sz="700" dirty="0">
              <a:solidFill>
                <a:schemeClr val="tx1"/>
              </a:solidFill>
            </a:endParaRPr>
          </a:p>
        </p:txBody>
      </p:sp>
      <p:sp>
        <p:nvSpPr>
          <p:cNvPr id="12" name="Rectangle 11">
            <a:extLst>
              <a:ext uri="{FF2B5EF4-FFF2-40B4-BE49-F238E27FC236}">
                <a16:creationId xmlns:a16="http://schemas.microsoft.com/office/drawing/2014/main" id="{410AA885-D330-EEF3-85A2-8AD2A01D5C85}"/>
              </a:ext>
            </a:extLst>
          </p:cNvPr>
          <p:cNvSpPr/>
          <p:nvPr/>
        </p:nvSpPr>
        <p:spPr>
          <a:xfrm>
            <a:off x="4445204" y="552704"/>
            <a:ext cx="539223"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Plane take off and land </a:t>
            </a:r>
            <a:r>
              <a:rPr lang="en-AU" altLang="zh-CN" sz="400" dirty="0" err="1">
                <a:solidFill>
                  <a:schemeClr val="tx1"/>
                </a:solidFill>
              </a:rPr>
              <a:t>plance</a:t>
            </a:r>
            <a:endParaRPr lang="zh-CN" altLang="en-US" sz="400" dirty="0">
              <a:solidFill>
                <a:schemeClr val="tx1"/>
              </a:solidFill>
            </a:endParaRPr>
          </a:p>
        </p:txBody>
      </p:sp>
      <p:sp>
        <p:nvSpPr>
          <p:cNvPr id="13" name="Rectangle 12">
            <a:extLst>
              <a:ext uri="{FF2B5EF4-FFF2-40B4-BE49-F238E27FC236}">
                <a16:creationId xmlns:a16="http://schemas.microsoft.com/office/drawing/2014/main" id="{98B14C88-59C0-F9C4-2670-4A1F8B277B58}"/>
              </a:ext>
            </a:extLst>
          </p:cNvPr>
          <p:cNvSpPr/>
          <p:nvPr/>
        </p:nvSpPr>
        <p:spPr>
          <a:xfrm>
            <a:off x="5088141" y="556673"/>
            <a:ext cx="539223"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Event Label</a:t>
            </a:r>
            <a:endParaRPr lang="zh-CN" altLang="en-US" sz="400" dirty="0">
              <a:solidFill>
                <a:schemeClr val="tx1"/>
              </a:solidFill>
            </a:endParaRPr>
          </a:p>
        </p:txBody>
      </p:sp>
      <p:sp>
        <p:nvSpPr>
          <p:cNvPr id="14" name="Rectangle 13">
            <a:extLst>
              <a:ext uri="{FF2B5EF4-FFF2-40B4-BE49-F238E27FC236}">
                <a16:creationId xmlns:a16="http://schemas.microsoft.com/office/drawing/2014/main" id="{3ACA948F-6937-E024-FAB8-3A482F3D9ECA}"/>
              </a:ext>
            </a:extLst>
          </p:cNvPr>
          <p:cNvSpPr/>
          <p:nvPr/>
        </p:nvSpPr>
        <p:spPr>
          <a:xfrm>
            <a:off x="5696900" y="552704"/>
            <a:ext cx="539223"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Flight Phase</a:t>
            </a:r>
            <a:endParaRPr lang="zh-CN" altLang="en-US" sz="400" dirty="0">
              <a:solidFill>
                <a:schemeClr val="tx1"/>
              </a:solidFill>
            </a:endParaRPr>
          </a:p>
        </p:txBody>
      </p:sp>
      <p:sp>
        <p:nvSpPr>
          <p:cNvPr id="15" name="Rectangle 14">
            <a:extLst>
              <a:ext uri="{FF2B5EF4-FFF2-40B4-BE49-F238E27FC236}">
                <a16:creationId xmlns:a16="http://schemas.microsoft.com/office/drawing/2014/main" id="{370A08F6-0AF3-E264-2C5B-4E384EEF7ED5}"/>
              </a:ext>
            </a:extLst>
          </p:cNvPr>
          <p:cNvSpPr/>
          <p:nvPr/>
        </p:nvSpPr>
        <p:spPr>
          <a:xfrm>
            <a:off x="7009140" y="552704"/>
            <a:ext cx="539223"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Comments</a:t>
            </a:r>
            <a:endParaRPr lang="zh-CN" altLang="en-US" sz="400" dirty="0">
              <a:solidFill>
                <a:schemeClr val="tx1"/>
              </a:solidFill>
            </a:endParaRPr>
          </a:p>
        </p:txBody>
      </p:sp>
      <p:sp>
        <p:nvSpPr>
          <p:cNvPr id="17" name="Rectangle 16">
            <a:extLst>
              <a:ext uri="{FF2B5EF4-FFF2-40B4-BE49-F238E27FC236}">
                <a16:creationId xmlns:a16="http://schemas.microsoft.com/office/drawing/2014/main" id="{FE092A6B-2A9C-16B3-2500-F5A63F96BBF7}"/>
              </a:ext>
            </a:extLst>
          </p:cNvPr>
          <p:cNvSpPr/>
          <p:nvPr/>
        </p:nvSpPr>
        <p:spPr>
          <a:xfrm>
            <a:off x="5761038" y="1192657"/>
            <a:ext cx="663375"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CRM Training Theme</a:t>
            </a:r>
            <a:endParaRPr lang="zh-CN" altLang="en-US" sz="400" dirty="0">
              <a:solidFill>
                <a:schemeClr val="tx1"/>
              </a:solidFill>
            </a:endParaRPr>
          </a:p>
        </p:txBody>
      </p:sp>
      <p:sp>
        <p:nvSpPr>
          <p:cNvPr id="18" name="Rectangle 17">
            <a:extLst>
              <a:ext uri="{FF2B5EF4-FFF2-40B4-BE49-F238E27FC236}">
                <a16:creationId xmlns:a16="http://schemas.microsoft.com/office/drawing/2014/main" id="{4A7BE86A-4A98-E74E-2F5B-324CCCF30BB4}"/>
              </a:ext>
            </a:extLst>
          </p:cNvPr>
          <p:cNvSpPr/>
          <p:nvPr/>
        </p:nvSpPr>
        <p:spPr>
          <a:xfrm>
            <a:off x="4113516" y="1192657"/>
            <a:ext cx="663375"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Training Evaluation </a:t>
            </a:r>
            <a:endParaRPr lang="zh-CN" altLang="en-US" sz="400" dirty="0">
              <a:solidFill>
                <a:schemeClr val="tx1"/>
              </a:solidFill>
            </a:endParaRPr>
          </a:p>
        </p:txBody>
      </p:sp>
      <p:sp>
        <p:nvSpPr>
          <p:cNvPr id="19" name="Rectangle 18">
            <a:extLst>
              <a:ext uri="{FF2B5EF4-FFF2-40B4-BE49-F238E27FC236}">
                <a16:creationId xmlns:a16="http://schemas.microsoft.com/office/drawing/2014/main" id="{A201293A-2C72-0D71-FC62-629FBB147F87}"/>
              </a:ext>
            </a:extLst>
          </p:cNvPr>
          <p:cNvSpPr/>
          <p:nvPr/>
        </p:nvSpPr>
        <p:spPr>
          <a:xfrm>
            <a:off x="2946400" y="1382649"/>
            <a:ext cx="396772" cy="5509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Result Module</a:t>
            </a:r>
            <a:endParaRPr lang="zh-CN" altLang="en-US" sz="400" dirty="0">
              <a:solidFill>
                <a:schemeClr val="tx1"/>
              </a:solidFill>
            </a:endParaRPr>
          </a:p>
        </p:txBody>
      </p:sp>
      <p:sp>
        <p:nvSpPr>
          <p:cNvPr id="20" name="Rectangle 19">
            <a:extLst>
              <a:ext uri="{FF2B5EF4-FFF2-40B4-BE49-F238E27FC236}">
                <a16:creationId xmlns:a16="http://schemas.microsoft.com/office/drawing/2014/main" id="{25D220B8-173E-A81E-6F99-D97A011C8BF7}"/>
              </a:ext>
            </a:extLst>
          </p:cNvPr>
          <p:cNvSpPr/>
          <p:nvPr/>
        </p:nvSpPr>
        <p:spPr>
          <a:xfrm>
            <a:off x="3371906" y="1468120"/>
            <a:ext cx="438896"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Possibility</a:t>
            </a:r>
            <a:endParaRPr lang="zh-CN" altLang="en-US" sz="400" dirty="0">
              <a:solidFill>
                <a:schemeClr val="tx1"/>
              </a:solidFill>
            </a:endParaRPr>
          </a:p>
        </p:txBody>
      </p:sp>
      <p:sp>
        <p:nvSpPr>
          <p:cNvPr id="21" name="Rectangle 20">
            <a:extLst>
              <a:ext uri="{FF2B5EF4-FFF2-40B4-BE49-F238E27FC236}">
                <a16:creationId xmlns:a16="http://schemas.microsoft.com/office/drawing/2014/main" id="{DDA5F905-AD30-D87F-1304-CDE000207944}"/>
              </a:ext>
            </a:extLst>
          </p:cNvPr>
          <p:cNvSpPr/>
          <p:nvPr/>
        </p:nvSpPr>
        <p:spPr>
          <a:xfrm>
            <a:off x="3875929" y="1468120"/>
            <a:ext cx="438896"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Severity</a:t>
            </a:r>
            <a:endParaRPr lang="zh-CN" altLang="en-US" sz="400" dirty="0">
              <a:solidFill>
                <a:schemeClr val="tx1"/>
              </a:solidFill>
            </a:endParaRPr>
          </a:p>
        </p:txBody>
      </p:sp>
      <p:sp>
        <p:nvSpPr>
          <p:cNvPr id="22" name="Rectangle 21">
            <a:extLst>
              <a:ext uri="{FF2B5EF4-FFF2-40B4-BE49-F238E27FC236}">
                <a16:creationId xmlns:a16="http://schemas.microsoft.com/office/drawing/2014/main" id="{8A414449-9843-C735-8189-1DC81727DF07}"/>
              </a:ext>
            </a:extLst>
          </p:cNvPr>
          <p:cNvSpPr/>
          <p:nvPr/>
        </p:nvSpPr>
        <p:spPr>
          <a:xfrm>
            <a:off x="4379952" y="1468120"/>
            <a:ext cx="438896"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Training Effect</a:t>
            </a:r>
            <a:endParaRPr lang="zh-CN" altLang="en-US" sz="400" dirty="0">
              <a:solidFill>
                <a:schemeClr val="tx1"/>
              </a:solidFill>
            </a:endParaRPr>
          </a:p>
        </p:txBody>
      </p:sp>
      <p:sp>
        <p:nvSpPr>
          <p:cNvPr id="23" name="Rectangle 22">
            <a:extLst>
              <a:ext uri="{FF2B5EF4-FFF2-40B4-BE49-F238E27FC236}">
                <a16:creationId xmlns:a16="http://schemas.microsoft.com/office/drawing/2014/main" id="{2E305D77-2787-6304-78F9-F13F945AFD11}"/>
              </a:ext>
            </a:extLst>
          </p:cNvPr>
          <p:cNvSpPr/>
          <p:nvPr/>
        </p:nvSpPr>
        <p:spPr>
          <a:xfrm>
            <a:off x="4868691" y="1468120"/>
            <a:ext cx="556590"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Training Plan</a:t>
            </a:r>
            <a:endParaRPr lang="zh-CN" altLang="en-US" sz="400" dirty="0">
              <a:solidFill>
                <a:schemeClr val="tx1"/>
              </a:solidFill>
            </a:endParaRPr>
          </a:p>
        </p:txBody>
      </p:sp>
      <p:sp>
        <p:nvSpPr>
          <p:cNvPr id="24" name="Rectangle 23">
            <a:extLst>
              <a:ext uri="{FF2B5EF4-FFF2-40B4-BE49-F238E27FC236}">
                <a16:creationId xmlns:a16="http://schemas.microsoft.com/office/drawing/2014/main" id="{C3CA0D9F-31B2-4C7B-73D3-1CCEB2994884}"/>
              </a:ext>
            </a:extLst>
          </p:cNvPr>
          <p:cNvSpPr/>
          <p:nvPr/>
        </p:nvSpPr>
        <p:spPr>
          <a:xfrm>
            <a:off x="5475124" y="1468120"/>
            <a:ext cx="481176"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Training Theme</a:t>
            </a:r>
            <a:endParaRPr lang="zh-CN" altLang="en-US" sz="400" dirty="0">
              <a:solidFill>
                <a:schemeClr val="tx1"/>
              </a:solidFill>
            </a:endParaRPr>
          </a:p>
        </p:txBody>
      </p:sp>
      <p:sp>
        <p:nvSpPr>
          <p:cNvPr id="25" name="Rectangle 24">
            <a:extLst>
              <a:ext uri="{FF2B5EF4-FFF2-40B4-BE49-F238E27FC236}">
                <a16:creationId xmlns:a16="http://schemas.microsoft.com/office/drawing/2014/main" id="{E7F49555-7657-429E-5AD8-A681D78E4F1B}"/>
              </a:ext>
            </a:extLst>
          </p:cNvPr>
          <p:cNvSpPr/>
          <p:nvPr/>
        </p:nvSpPr>
        <p:spPr>
          <a:xfrm>
            <a:off x="6006143" y="1468120"/>
            <a:ext cx="674059"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Reached Target</a:t>
            </a:r>
            <a:endParaRPr lang="zh-CN" altLang="en-US" sz="400" dirty="0">
              <a:solidFill>
                <a:schemeClr val="tx1"/>
              </a:solidFill>
            </a:endParaRPr>
          </a:p>
        </p:txBody>
      </p:sp>
      <p:sp>
        <p:nvSpPr>
          <p:cNvPr id="26" name="Rectangle 25">
            <a:extLst>
              <a:ext uri="{FF2B5EF4-FFF2-40B4-BE49-F238E27FC236}">
                <a16:creationId xmlns:a16="http://schemas.microsoft.com/office/drawing/2014/main" id="{D8CBD112-6A98-5E64-AF5B-037EF8BC0685}"/>
              </a:ext>
            </a:extLst>
          </p:cNvPr>
          <p:cNvSpPr/>
          <p:nvPr/>
        </p:nvSpPr>
        <p:spPr>
          <a:xfrm>
            <a:off x="6037893" y="1770761"/>
            <a:ext cx="674059"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User to Fill</a:t>
            </a:r>
            <a:endParaRPr lang="zh-CN" altLang="en-US" sz="400" dirty="0">
              <a:solidFill>
                <a:schemeClr val="tx1"/>
              </a:solidFill>
            </a:endParaRPr>
          </a:p>
        </p:txBody>
      </p:sp>
      <p:sp>
        <p:nvSpPr>
          <p:cNvPr id="27" name="Rectangle 26">
            <a:extLst>
              <a:ext uri="{FF2B5EF4-FFF2-40B4-BE49-F238E27FC236}">
                <a16:creationId xmlns:a16="http://schemas.microsoft.com/office/drawing/2014/main" id="{DE7EF242-99A5-8A6D-EEC8-E53F9AE31670}"/>
              </a:ext>
            </a:extLst>
          </p:cNvPr>
          <p:cNvSpPr/>
          <p:nvPr/>
        </p:nvSpPr>
        <p:spPr>
          <a:xfrm>
            <a:off x="4844093" y="1770761"/>
            <a:ext cx="556590"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User to Fill</a:t>
            </a:r>
            <a:endParaRPr lang="zh-CN" altLang="en-US" sz="400" dirty="0">
              <a:solidFill>
                <a:schemeClr val="tx1"/>
              </a:solidFill>
            </a:endParaRPr>
          </a:p>
        </p:txBody>
      </p:sp>
      <p:sp>
        <p:nvSpPr>
          <p:cNvPr id="28" name="Rectangle 27">
            <a:extLst>
              <a:ext uri="{FF2B5EF4-FFF2-40B4-BE49-F238E27FC236}">
                <a16:creationId xmlns:a16="http://schemas.microsoft.com/office/drawing/2014/main" id="{38EC0958-E6AE-A4ED-A9B9-8491523C1DD6}"/>
              </a:ext>
            </a:extLst>
          </p:cNvPr>
          <p:cNvSpPr/>
          <p:nvPr/>
        </p:nvSpPr>
        <p:spPr>
          <a:xfrm>
            <a:off x="5535185" y="1770761"/>
            <a:ext cx="386190"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a:t>
            </a:r>
            <a:endParaRPr lang="zh-CN" altLang="en-US" sz="400" dirty="0">
              <a:solidFill>
                <a:schemeClr val="tx1"/>
              </a:solidFill>
            </a:endParaRPr>
          </a:p>
        </p:txBody>
      </p:sp>
      <p:sp>
        <p:nvSpPr>
          <p:cNvPr id="29" name="Rectangle 28">
            <a:extLst>
              <a:ext uri="{FF2B5EF4-FFF2-40B4-BE49-F238E27FC236}">
                <a16:creationId xmlns:a16="http://schemas.microsoft.com/office/drawing/2014/main" id="{0CDE2D80-811A-E46D-AD62-5C4310631A98}"/>
              </a:ext>
            </a:extLst>
          </p:cNvPr>
          <p:cNvSpPr/>
          <p:nvPr/>
        </p:nvSpPr>
        <p:spPr>
          <a:xfrm>
            <a:off x="4379952" y="1819910"/>
            <a:ext cx="438896"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Single selection</a:t>
            </a:r>
            <a:endParaRPr lang="zh-CN" altLang="en-US" sz="400" dirty="0">
              <a:solidFill>
                <a:schemeClr val="tx1"/>
              </a:solidFill>
            </a:endParaRPr>
          </a:p>
        </p:txBody>
      </p:sp>
      <p:sp>
        <p:nvSpPr>
          <p:cNvPr id="30" name="Rectangle 29">
            <a:extLst>
              <a:ext uri="{FF2B5EF4-FFF2-40B4-BE49-F238E27FC236}">
                <a16:creationId xmlns:a16="http://schemas.microsoft.com/office/drawing/2014/main" id="{DBE8DCE0-02CA-9656-3A11-BE91D7B7CD75}"/>
              </a:ext>
            </a:extLst>
          </p:cNvPr>
          <p:cNvSpPr/>
          <p:nvPr/>
        </p:nvSpPr>
        <p:spPr>
          <a:xfrm>
            <a:off x="3878147" y="1789938"/>
            <a:ext cx="438896"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Single selection</a:t>
            </a:r>
            <a:endParaRPr lang="zh-CN" altLang="en-US" sz="400" dirty="0">
              <a:solidFill>
                <a:schemeClr val="tx1"/>
              </a:solidFill>
            </a:endParaRPr>
          </a:p>
        </p:txBody>
      </p:sp>
      <p:sp>
        <p:nvSpPr>
          <p:cNvPr id="31" name="Rectangle 30">
            <a:extLst>
              <a:ext uri="{FF2B5EF4-FFF2-40B4-BE49-F238E27FC236}">
                <a16:creationId xmlns:a16="http://schemas.microsoft.com/office/drawing/2014/main" id="{68405996-1D7F-0D4F-7CBB-4D1F12FFFE5B}"/>
              </a:ext>
            </a:extLst>
          </p:cNvPr>
          <p:cNvSpPr/>
          <p:nvPr/>
        </p:nvSpPr>
        <p:spPr>
          <a:xfrm>
            <a:off x="3380993" y="1789938"/>
            <a:ext cx="438896" cy="1899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Single selection</a:t>
            </a:r>
            <a:endParaRPr lang="zh-CN" altLang="en-US" sz="400" dirty="0">
              <a:solidFill>
                <a:schemeClr val="tx1"/>
              </a:solidFill>
            </a:endParaRPr>
          </a:p>
        </p:txBody>
      </p:sp>
      <p:sp>
        <p:nvSpPr>
          <p:cNvPr id="32" name="Rectangle 31">
            <a:extLst>
              <a:ext uri="{FF2B5EF4-FFF2-40B4-BE49-F238E27FC236}">
                <a16:creationId xmlns:a16="http://schemas.microsoft.com/office/drawing/2014/main" id="{75F05DA0-C3BD-F5CD-0457-36F575289904}"/>
              </a:ext>
            </a:extLst>
          </p:cNvPr>
          <p:cNvSpPr/>
          <p:nvPr/>
        </p:nvSpPr>
        <p:spPr>
          <a:xfrm>
            <a:off x="7185554" y="1220217"/>
            <a:ext cx="674059" cy="1624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Summary</a:t>
            </a:r>
            <a:endParaRPr lang="zh-CN" altLang="en-US" sz="400" dirty="0">
              <a:solidFill>
                <a:schemeClr val="tx1"/>
              </a:solidFill>
            </a:endParaRPr>
          </a:p>
        </p:txBody>
      </p:sp>
      <p:sp>
        <p:nvSpPr>
          <p:cNvPr id="33" name="Rectangle 32">
            <a:extLst>
              <a:ext uri="{FF2B5EF4-FFF2-40B4-BE49-F238E27FC236}">
                <a16:creationId xmlns:a16="http://schemas.microsoft.com/office/drawing/2014/main" id="{90028CBA-E725-EAAB-36B4-502010F67DBB}"/>
              </a:ext>
            </a:extLst>
          </p:cNvPr>
          <p:cNvSpPr/>
          <p:nvPr/>
        </p:nvSpPr>
        <p:spPr>
          <a:xfrm>
            <a:off x="7548362" y="2271776"/>
            <a:ext cx="774901" cy="29997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1200" dirty="0">
                <a:solidFill>
                  <a:schemeClr val="tx1"/>
                </a:solidFill>
                <a:highlight>
                  <a:srgbClr val="FFFF00"/>
                </a:highlight>
              </a:rPr>
              <a:t>Ignore</a:t>
            </a:r>
          </a:p>
          <a:p>
            <a:pPr algn="ctr"/>
            <a:r>
              <a:rPr lang="en-AU" altLang="zh-CN" sz="1200" dirty="0">
                <a:solidFill>
                  <a:schemeClr val="tx1"/>
                </a:solidFill>
                <a:highlight>
                  <a:srgbClr val="FFFF00"/>
                </a:highlight>
              </a:rPr>
              <a:t>This</a:t>
            </a:r>
            <a:endParaRPr lang="zh-CN" altLang="en-US" sz="1200" dirty="0">
              <a:solidFill>
                <a:schemeClr val="tx1"/>
              </a:solidFill>
              <a:highlight>
                <a:srgbClr val="FFFF00"/>
              </a:highlight>
            </a:endParaRPr>
          </a:p>
        </p:txBody>
      </p:sp>
      <p:sp>
        <p:nvSpPr>
          <p:cNvPr id="34" name="Rectangle 33">
            <a:extLst>
              <a:ext uri="{FF2B5EF4-FFF2-40B4-BE49-F238E27FC236}">
                <a16:creationId xmlns:a16="http://schemas.microsoft.com/office/drawing/2014/main" id="{7461FEEA-3335-9D48-2446-9E39041381DA}"/>
              </a:ext>
            </a:extLst>
          </p:cNvPr>
          <p:cNvSpPr/>
          <p:nvPr/>
        </p:nvSpPr>
        <p:spPr>
          <a:xfrm>
            <a:off x="1136371" y="2847976"/>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35" name="Rectangle 34">
            <a:extLst>
              <a:ext uri="{FF2B5EF4-FFF2-40B4-BE49-F238E27FC236}">
                <a16:creationId xmlns:a16="http://schemas.microsoft.com/office/drawing/2014/main" id="{9B5338CA-6AE8-250A-8AA4-9FD63BCB3DF3}"/>
              </a:ext>
            </a:extLst>
          </p:cNvPr>
          <p:cNvSpPr/>
          <p:nvPr/>
        </p:nvSpPr>
        <p:spPr>
          <a:xfrm>
            <a:off x="2231746" y="2800351"/>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36" name="Rectangle 35">
            <a:extLst>
              <a:ext uri="{FF2B5EF4-FFF2-40B4-BE49-F238E27FC236}">
                <a16:creationId xmlns:a16="http://schemas.microsoft.com/office/drawing/2014/main" id="{E4CC98C5-0CF7-AA59-BE83-665C53BBD319}"/>
              </a:ext>
            </a:extLst>
          </p:cNvPr>
          <p:cNvSpPr/>
          <p:nvPr/>
        </p:nvSpPr>
        <p:spPr>
          <a:xfrm>
            <a:off x="3166424" y="2800351"/>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37" name="Rectangle 36">
            <a:extLst>
              <a:ext uri="{FF2B5EF4-FFF2-40B4-BE49-F238E27FC236}">
                <a16:creationId xmlns:a16="http://schemas.microsoft.com/office/drawing/2014/main" id="{4A9F7A46-F3F2-7B5D-59A8-2BD010711E4E}"/>
              </a:ext>
            </a:extLst>
          </p:cNvPr>
          <p:cNvSpPr/>
          <p:nvPr/>
        </p:nvSpPr>
        <p:spPr>
          <a:xfrm>
            <a:off x="4392422" y="2820416"/>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38" name="Rectangle 37">
            <a:extLst>
              <a:ext uri="{FF2B5EF4-FFF2-40B4-BE49-F238E27FC236}">
                <a16:creationId xmlns:a16="http://schemas.microsoft.com/office/drawing/2014/main" id="{E657F2B2-DA40-3E51-951A-FF7EDA9F68F4}"/>
              </a:ext>
            </a:extLst>
          </p:cNvPr>
          <p:cNvSpPr/>
          <p:nvPr/>
        </p:nvSpPr>
        <p:spPr>
          <a:xfrm>
            <a:off x="1285596" y="3876676"/>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39" name="Rectangle 38">
            <a:extLst>
              <a:ext uri="{FF2B5EF4-FFF2-40B4-BE49-F238E27FC236}">
                <a16:creationId xmlns:a16="http://schemas.microsoft.com/office/drawing/2014/main" id="{09B4FB63-F148-65D5-A072-C1DEE4607F9C}"/>
              </a:ext>
            </a:extLst>
          </p:cNvPr>
          <p:cNvSpPr/>
          <p:nvPr/>
        </p:nvSpPr>
        <p:spPr>
          <a:xfrm>
            <a:off x="2177464" y="3892297"/>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0" name="Rectangle 39">
            <a:extLst>
              <a:ext uri="{FF2B5EF4-FFF2-40B4-BE49-F238E27FC236}">
                <a16:creationId xmlns:a16="http://schemas.microsoft.com/office/drawing/2014/main" id="{15C30AFF-ACEC-6912-E247-8B9C1F2E7D6D}"/>
              </a:ext>
            </a:extLst>
          </p:cNvPr>
          <p:cNvSpPr/>
          <p:nvPr/>
        </p:nvSpPr>
        <p:spPr>
          <a:xfrm>
            <a:off x="3172187" y="3876676"/>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1" name="Rectangle 40">
            <a:extLst>
              <a:ext uri="{FF2B5EF4-FFF2-40B4-BE49-F238E27FC236}">
                <a16:creationId xmlns:a16="http://schemas.microsoft.com/office/drawing/2014/main" id="{73BE2B10-EC2C-2D36-9BA9-F57063E430BE}"/>
              </a:ext>
            </a:extLst>
          </p:cNvPr>
          <p:cNvSpPr/>
          <p:nvPr/>
        </p:nvSpPr>
        <p:spPr>
          <a:xfrm>
            <a:off x="4434380" y="3837240"/>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2" name="Rectangle 41">
            <a:extLst>
              <a:ext uri="{FF2B5EF4-FFF2-40B4-BE49-F238E27FC236}">
                <a16:creationId xmlns:a16="http://schemas.microsoft.com/office/drawing/2014/main" id="{BE8D18B8-F5EB-327F-A912-73DC828571F2}"/>
              </a:ext>
            </a:extLst>
          </p:cNvPr>
          <p:cNvSpPr/>
          <p:nvPr/>
        </p:nvSpPr>
        <p:spPr>
          <a:xfrm>
            <a:off x="1590088" y="5065713"/>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3" name="Rectangle 42">
            <a:extLst>
              <a:ext uri="{FF2B5EF4-FFF2-40B4-BE49-F238E27FC236}">
                <a16:creationId xmlns:a16="http://schemas.microsoft.com/office/drawing/2014/main" id="{B05D468E-F334-32FB-2F13-72BCEA656061}"/>
              </a:ext>
            </a:extLst>
          </p:cNvPr>
          <p:cNvSpPr/>
          <p:nvPr/>
        </p:nvSpPr>
        <p:spPr>
          <a:xfrm>
            <a:off x="2634970" y="5075556"/>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4" name="Rectangle 43">
            <a:extLst>
              <a:ext uri="{FF2B5EF4-FFF2-40B4-BE49-F238E27FC236}">
                <a16:creationId xmlns:a16="http://schemas.microsoft.com/office/drawing/2014/main" id="{3888A484-105F-587C-81DA-33271A8E0FFF}"/>
              </a:ext>
            </a:extLst>
          </p:cNvPr>
          <p:cNvSpPr/>
          <p:nvPr/>
        </p:nvSpPr>
        <p:spPr>
          <a:xfrm>
            <a:off x="4249265" y="5075556"/>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5" name="Rectangle 44">
            <a:extLst>
              <a:ext uri="{FF2B5EF4-FFF2-40B4-BE49-F238E27FC236}">
                <a16:creationId xmlns:a16="http://schemas.microsoft.com/office/drawing/2014/main" id="{995B3404-7466-CDEF-1C0C-2C1466BDA908}"/>
              </a:ext>
            </a:extLst>
          </p:cNvPr>
          <p:cNvSpPr/>
          <p:nvPr/>
        </p:nvSpPr>
        <p:spPr>
          <a:xfrm>
            <a:off x="815108" y="6065838"/>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6" name="Rectangle 45">
            <a:extLst>
              <a:ext uri="{FF2B5EF4-FFF2-40B4-BE49-F238E27FC236}">
                <a16:creationId xmlns:a16="http://schemas.microsoft.com/office/drawing/2014/main" id="{8F8AF4A3-E6A9-3638-4E04-C909A747D690}"/>
              </a:ext>
            </a:extLst>
          </p:cNvPr>
          <p:cNvSpPr/>
          <p:nvPr/>
        </p:nvSpPr>
        <p:spPr>
          <a:xfrm>
            <a:off x="1670064" y="6065838"/>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7" name="Rectangle 46">
            <a:extLst>
              <a:ext uri="{FF2B5EF4-FFF2-40B4-BE49-F238E27FC236}">
                <a16:creationId xmlns:a16="http://schemas.microsoft.com/office/drawing/2014/main" id="{B4A70A64-4472-AEA7-A749-8ED345D9B067}"/>
              </a:ext>
            </a:extLst>
          </p:cNvPr>
          <p:cNvSpPr/>
          <p:nvPr/>
        </p:nvSpPr>
        <p:spPr>
          <a:xfrm>
            <a:off x="2439000" y="6050217"/>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8" name="Rectangle 47">
            <a:extLst>
              <a:ext uri="{FF2B5EF4-FFF2-40B4-BE49-F238E27FC236}">
                <a16:creationId xmlns:a16="http://schemas.microsoft.com/office/drawing/2014/main" id="{59AB14E0-95EB-61A2-CC08-375214D09288}"/>
              </a:ext>
            </a:extLst>
          </p:cNvPr>
          <p:cNvSpPr/>
          <p:nvPr/>
        </p:nvSpPr>
        <p:spPr>
          <a:xfrm>
            <a:off x="2996525" y="6034596"/>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49" name="Rectangle 48">
            <a:extLst>
              <a:ext uri="{FF2B5EF4-FFF2-40B4-BE49-F238E27FC236}">
                <a16:creationId xmlns:a16="http://schemas.microsoft.com/office/drawing/2014/main" id="{D42DD720-6713-62ED-A757-EE227F7D7DFE}"/>
              </a:ext>
            </a:extLst>
          </p:cNvPr>
          <p:cNvSpPr/>
          <p:nvPr/>
        </p:nvSpPr>
        <p:spPr>
          <a:xfrm>
            <a:off x="3676266" y="5999547"/>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50" name="Rectangle 49">
            <a:extLst>
              <a:ext uri="{FF2B5EF4-FFF2-40B4-BE49-F238E27FC236}">
                <a16:creationId xmlns:a16="http://schemas.microsoft.com/office/drawing/2014/main" id="{492149FB-DBE9-A83B-6023-443701174EBE}"/>
              </a:ext>
            </a:extLst>
          </p:cNvPr>
          <p:cNvSpPr/>
          <p:nvPr/>
        </p:nvSpPr>
        <p:spPr>
          <a:xfrm>
            <a:off x="4415636" y="5987003"/>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51" name="Rectangle 50">
            <a:extLst>
              <a:ext uri="{FF2B5EF4-FFF2-40B4-BE49-F238E27FC236}">
                <a16:creationId xmlns:a16="http://schemas.microsoft.com/office/drawing/2014/main" id="{5A079556-1547-5D09-E5D1-2F4623537F07}"/>
              </a:ext>
            </a:extLst>
          </p:cNvPr>
          <p:cNvSpPr/>
          <p:nvPr/>
        </p:nvSpPr>
        <p:spPr>
          <a:xfrm>
            <a:off x="5242895" y="6047140"/>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52" name="Rectangle 51">
            <a:extLst>
              <a:ext uri="{FF2B5EF4-FFF2-40B4-BE49-F238E27FC236}">
                <a16:creationId xmlns:a16="http://schemas.microsoft.com/office/drawing/2014/main" id="{EB1AAC97-2668-1C76-5131-C04C39CD903F}"/>
              </a:ext>
            </a:extLst>
          </p:cNvPr>
          <p:cNvSpPr/>
          <p:nvPr/>
        </p:nvSpPr>
        <p:spPr>
          <a:xfrm>
            <a:off x="5922636" y="6012091"/>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53" name="Rectangle 52">
            <a:extLst>
              <a:ext uri="{FF2B5EF4-FFF2-40B4-BE49-F238E27FC236}">
                <a16:creationId xmlns:a16="http://schemas.microsoft.com/office/drawing/2014/main" id="{9C27A3F7-C4B1-425C-F4C1-6FAC655229D4}"/>
              </a:ext>
            </a:extLst>
          </p:cNvPr>
          <p:cNvSpPr/>
          <p:nvPr/>
        </p:nvSpPr>
        <p:spPr>
          <a:xfrm>
            <a:off x="6662006" y="5999547"/>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Options from the excel table</a:t>
            </a:r>
            <a:endParaRPr lang="zh-CN" altLang="en-US" sz="400" dirty="0">
              <a:solidFill>
                <a:schemeClr val="tx1"/>
              </a:solidFill>
            </a:endParaRPr>
          </a:p>
        </p:txBody>
      </p:sp>
      <p:sp>
        <p:nvSpPr>
          <p:cNvPr id="54" name="Rectangle 53">
            <a:extLst>
              <a:ext uri="{FF2B5EF4-FFF2-40B4-BE49-F238E27FC236}">
                <a16:creationId xmlns:a16="http://schemas.microsoft.com/office/drawing/2014/main" id="{FDC7DCE9-B20A-F6D8-A904-1504E6114EAD}"/>
              </a:ext>
            </a:extLst>
          </p:cNvPr>
          <p:cNvSpPr/>
          <p:nvPr/>
        </p:nvSpPr>
        <p:spPr>
          <a:xfrm>
            <a:off x="430640" y="3562351"/>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Relevancy</a:t>
            </a:r>
            <a:endParaRPr lang="zh-CN" altLang="en-US" sz="400" dirty="0">
              <a:solidFill>
                <a:schemeClr val="tx1"/>
              </a:solidFill>
            </a:endParaRPr>
          </a:p>
        </p:txBody>
      </p:sp>
      <p:sp>
        <p:nvSpPr>
          <p:cNvPr id="55" name="Rectangle 54">
            <a:extLst>
              <a:ext uri="{FF2B5EF4-FFF2-40B4-BE49-F238E27FC236}">
                <a16:creationId xmlns:a16="http://schemas.microsoft.com/office/drawing/2014/main" id="{0BFFE03A-A661-7AEB-AFFA-C37902FC5DAF}"/>
              </a:ext>
            </a:extLst>
          </p:cNvPr>
          <p:cNvSpPr/>
          <p:nvPr/>
        </p:nvSpPr>
        <p:spPr>
          <a:xfrm>
            <a:off x="430640" y="3969002"/>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Select Single Value from the option</a:t>
            </a:r>
            <a:endParaRPr lang="zh-CN" altLang="en-US" sz="400" dirty="0">
              <a:solidFill>
                <a:schemeClr val="tx1"/>
              </a:solidFill>
            </a:endParaRPr>
          </a:p>
        </p:txBody>
      </p:sp>
      <p:sp>
        <p:nvSpPr>
          <p:cNvPr id="57" name="Rectangle 56">
            <a:extLst>
              <a:ext uri="{FF2B5EF4-FFF2-40B4-BE49-F238E27FC236}">
                <a16:creationId xmlns:a16="http://schemas.microsoft.com/office/drawing/2014/main" id="{A8327505-FCA2-527D-0D10-3EE1F36D94D8}"/>
              </a:ext>
            </a:extLst>
          </p:cNvPr>
          <p:cNvSpPr/>
          <p:nvPr/>
        </p:nvSpPr>
        <p:spPr>
          <a:xfrm>
            <a:off x="516660" y="4767932"/>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Relevancy</a:t>
            </a:r>
            <a:endParaRPr lang="zh-CN" altLang="en-US" sz="400" dirty="0">
              <a:solidFill>
                <a:schemeClr val="tx1"/>
              </a:solidFill>
            </a:endParaRPr>
          </a:p>
        </p:txBody>
      </p:sp>
      <p:sp>
        <p:nvSpPr>
          <p:cNvPr id="58" name="Rectangle 57">
            <a:extLst>
              <a:ext uri="{FF2B5EF4-FFF2-40B4-BE49-F238E27FC236}">
                <a16:creationId xmlns:a16="http://schemas.microsoft.com/office/drawing/2014/main" id="{4F958FB5-E02E-C088-5BEF-27609A6EE1AC}"/>
              </a:ext>
            </a:extLst>
          </p:cNvPr>
          <p:cNvSpPr/>
          <p:nvPr/>
        </p:nvSpPr>
        <p:spPr>
          <a:xfrm>
            <a:off x="516660" y="5174583"/>
            <a:ext cx="768936" cy="31432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00" dirty="0">
                <a:solidFill>
                  <a:schemeClr val="tx1"/>
                </a:solidFill>
              </a:rPr>
              <a:t>Select Single Value from the option</a:t>
            </a:r>
            <a:endParaRPr lang="zh-CN" altLang="en-US" sz="400" dirty="0">
              <a:solidFill>
                <a:schemeClr val="tx1"/>
              </a:solidFill>
            </a:endParaRPr>
          </a:p>
        </p:txBody>
      </p:sp>
    </p:spTree>
    <p:extLst>
      <p:ext uri="{BB962C8B-B14F-4D97-AF65-F5344CB8AC3E}">
        <p14:creationId xmlns:p14="http://schemas.microsoft.com/office/powerpoint/2010/main" val="45019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17C0FB-0221-A909-CF60-E1351A02EFBF}"/>
              </a:ext>
            </a:extLst>
          </p:cNvPr>
          <p:cNvSpPr txBox="1"/>
          <p:nvPr/>
        </p:nvSpPr>
        <p:spPr>
          <a:xfrm>
            <a:off x="597154" y="201168"/>
            <a:ext cx="2871216" cy="923330"/>
          </a:xfrm>
          <a:prstGeom prst="rect">
            <a:avLst/>
          </a:prstGeom>
          <a:noFill/>
        </p:spPr>
        <p:txBody>
          <a:bodyPr wrap="square" rtlCol="0">
            <a:spAutoFit/>
          </a:bodyPr>
          <a:lstStyle/>
          <a:p>
            <a:r>
              <a:rPr lang="en-AU" altLang="zh-CN" dirty="0"/>
              <a:t>Example for how to fine the value field for each drop down list :</a:t>
            </a:r>
            <a:endParaRPr lang="zh-CN" altLang="en-US" dirty="0"/>
          </a:p>
        </p:txBody>
      </p:sp>
      <p:pic>
        <p:nvPicPr>
          <p:cNvPr id="5" name="Picture 4" descr="A screenshot of a computer&#10;&#10;AI-generated content may be incorrect.">
            <a:extLst>
              <a:ext uri="{FF2B5EF4-FFF2-40B4-BE49-F238E27FC236}">
                <a16:creationId xmlns:a16="http://schemas.microsoft.com/office/drawing/2014/main" id="{66E1CCC1-C900-7DCD-EB0F-3FDDF687C2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691" y="1306511"/>
            <a:ext cx="6197358" cy="5089477"/>
          </a:xfrm>
          <a:prstGeom prst="rect">
            <a:avLst/>
          </a:prstGeom>
        </p:spPr>
      </p:pic>
      <p:sp>
        <p:nvSpPr>
          <p:cNvPr id="6" name="Rectangle 5">
            <a:extLst>
              <a:ext uri="{FF2B5EF4-FFF2-40B4-BE49-F238E27FC236}">
                <a16:creationId xmlns:a16="http://schemas.microsoft.com/office/drawing/2014/main" id="{5F61955B-D2CD-C689-AA5D-5BCC1D74FD4B}"/>
              </a:ext>
            </a:extLst>
          </p:cNvPr>
          <p:cNvSpPr/>
          <p:nvPr/>
        </p:nvSpPr>
        <p:spPr>
          <a:xfrm>
            <a:off x="597154" y="3771900"/>
            <a:ext cx="933196" cy="685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Straight Arrow Connector 7">
            <a:extLst>
              <a:ext uri="{FF2B5EF4-FFF2-40B4-BE49-F238E27FC236}">
                <a16:creationId xmlns:a16="http://schemas.microsoft.com/office/drawing/2014/main" id="{13CB3A65-8095-0311-9729-0C475D3AF6F0}"/>
              </a:ext>
            </a:extLst>
          </p:cNvPr>
          <p:cNvCxnSpPr>
            <a:cxnSpLocks/>
          </p:cNvCxnSpPr>
          <p:nvPr/>
        </p:nvCxnSpPr>
        <p:spPr>
          <a:xfrm flipV="1">
            <a:off x="1510030" y="3086100"/>
            <a:ext cx="5519420" cy="10058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2553307E-677C-C0C1-7434-1F1974A5BFEC}"/>
              </a:ext>
            </a:extLst>
          </p:cNvPr>
          <p:cNvPicPr>
            <a:picLocks noChangeAspect="1"/>
          </p:cNvPicPr>
          <p:nvPr/>
        </p:nvPicPr>
        <p:blipFill>
          <a:blip r:embed="rId4"/>
          <a:stretch>
            <a:fillRect/>
          </a:stretch>
        </p:blipFill>
        <p:spPr>
          <a:xfrm>
            <a:off x="7029450" y="478284"/>
            <a:ext cx="10886942" cy="5592316"/>
          </a:xfrm>
          <a:prstGeom prst="rect">
            <a:avLst/>
          </a:prstGeom>
        </p:spPr>
      </p:pic>
      <p:sp>
        <p:nvSpPr>
          <p:cNvPr id="12" name="TextBox 11">
            <a:extLst>
              <a:ext uri="{FF2B5EF4-FFF2-40B4-BE49-F238E27FC236}">
                <a16:creationId xmlns:a16="http://schemas.microsoft.com/office/drawing/2014/main" id="{3F7372AB-255A-B5B6-9F9C-BB9F579C528E}"/>
              </a:ext>
            </a:extLst>
          </p:cNvPr>
          <p:cNvSpPr txBox="1"/>
          <p:nvPr/>
        </p:nvSpPr>
        <p:spPr>
          <a:xfrm>
            <a:off x="4053840" y="-1368492"/>
            <a:ext cx="6591300" cy="2031325"/>
          </a:xfrm>
          <a:prstGeom prst="rect">
            <a:avLst/>
          </a:prstGeom>
          <a:noFill/>
        </p:spPr>
        <p:txBody>
          <a:bodyPr wrap="square" rtlCol="0">
            <a:spAutoFit/>
          </a:bodyPr>
          <a:lstStyle/>
          <a:p>
            <a:r>
              <a:rPr lang="en-AU" altLang="zh-CN" dirty="0"/>
              <a:t>So, this drop down list, Chinese character is “</a:t>
            </a:r>
            <a:r>
              <a:rPr lang="zh-CN" altLang="en-US" dirty="0"/>
              <a:t>差错类型</a:t>
            </a:r>
            <a:r>
              <a:rPr lang="en-AU" altLang="zh-CN" dirty="0"/>
              <a:t>”. </a:t>
            </a:r>
            <a:r>
              <a:rPr lang="zh-CN" altLang="en-US" dirty="0"/>
              <a:t> </a:t>
            </a:r>
            <a:r>
              <a:rPr lang="en-US" altLang="zh-CN" dirty="0"/>
              <a:t>And</a:t>
            </a:r>
            <a:r>
              <a:rPr lang="zh-CN" altLang="en-US" dirty="0"/>
              <a:t> </a:t>
            </a:r>
            <a:r>
              <a:rPr lang="en-US" altLang="zh-CN" dirty="0"/>
              <a:t>it</a:t>
            </a:r>
            <a:r>
              <a:rPr lang="zh-CN" altLang="en-US" dirty="0"/>
              <a:t> </a:t>
            </a:r>
            <a:r>
              <a:rPr lang="en-US" altLang="zh-CN" dirty="0"/>
              <a:t>can</a:t>
            </a:r>
            <a:r>
              <a:rPr lang="zh-CN" altLang="en-US" dirty="0"/>
              <a:t> </a:t>
            </a:r>
            <a:r>
              <a:rPr lang="en-US" altLang="zh-CN" dirty="0"/>
              <a:t>be</a:t>
            </a:r>
            <a:r>
              <a:rPr lang="zh-CN" altLang="en-US" dirty="0"/>
              <a:t> </a:t>
            </a:r>
            <a:r>
              <a:rPr lang="en-US" altLang="zh-CN" dirty="0"/>
              <a:t>found</a:t>
            </a:r>
            <a:r>
              <a:rPr lang="zh-CN" altLang="en-US" dirty="0"/>
              <a:t> </a:t>
            </a:r>
            <a:r>
              <a:rPr lang="en-US" altLang="zh-CN" dirty="0"/>
              <a:t>from the excel list. You can see 3 columns are pointed to in the figure. The first column is level 1, second is level 2, and third is level 3. Each level of selection contains several number of selection in the next level. That’s why I suggest using a sperate window for this selection. The others can be found by the same way. </a:t>
            </a:r>
            <a:r>
              <a:rPr lang="en-AU" altLang="zh-CN" dirty="0"/>
              <a:t> </a:t>
            </a:r>
            <a:endParaRPr lang="zh-CN" altLang="en-US" dirty="0"/>
          </a:p>
        </p:txBody>
      </p:sp>
    </p:spTree>
    <p:extLst>
      <p:ext uri="{BB962C8B-B14F-4D97-AF65-F5344CB8AC3E}">
        <p14:creationId xmlns:p14="http://schemas.microsoft.com/office/powerpoint/2010/main" val="1209980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F9D6623-8752-5746-73AE-BCE8A0CE6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486" y="1013801"/>
            <a:ext cx="6197358" cy="5089477"/>
          </a:xfrm>
          <a:prstGeom prst="rect">
            <a:avLst/>
          </a:prstGeom>
        </p:spPr>
      </p:pic>
      <p:sp>
        <p:nvSpPr>
          <p:cNvPr id="5" name="Rectangle 4">
            <a:extLst>
              <a:ext uri="{FF2B5EF4-FFF2-40B4-BE49-F238E27FC236}">
                <a16:creationId xmlns:a16="http://schemas.microsoft.com/office/drawing/2014/main" id="{A09F7A8E-8263-C4A0-D5AB-5F13F86A41AE}"/>
              </a:ext>
            </a:extLst>
          </p:cNvPr>
          <p:cNvSpPr/>
          <p:nvPr/>
        </p:nvSpPr>
        <p:spPr>
          <a:xfrm>
            <a:off x="665336" y="1151282"/>
            <a:ext cx="5872624" cy="13556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Picture 6">
            <a:extLst>
              <a:ext uri="{FF2B5EF4-FFF2-40B4-BE49-F238E27FC236}">
                <a16:creationId xmlns:a16="http://schemas.microsoft.com/office/drawing/2014/main" id="{C62F565C-3381-52DE-AE3C-4E83C4EE5495}"/>
              </a:ext>
            </a:extLst>
          </p:cNvPr>
          <p:cNvPicPr>
            <a:picLocks noChangeAspect="1"/>
          </p:cNvPicPr>
          <p:nvPr/>
        </p:nvPicPr>
        <p:blipFill>
          <a:blip r:embed="rId3"/>
          <a:stretch>
            <a:fillRect/>
          </a:stretch>
        </p:blipFill>
        <p:spPr>
          <a:xfrm>
            <a:off x="537210" y="3027086"/>
            <a:ext cx="12001500" cy="1524957"/>
          </a:xfrm>
          <a:prstGeom prst="rect">
            <a:avLst/>
          </a:prstGeom>
        </p:spPr>
      </p:pic>
      <p:cxnSp>
        <p:nvCxnSpPr>
          <p:cNvPr id="9" name="Straight Arrow Connector 8">
            <a:extLst>
              <a:ext uri="{FF2B5EF4-FFF2-40B4-BE49-F238E27FC236}">
                <a16:creationId xmlns:a16="http://schemas.microsoft.com/office/drawing/2014/main" id="{87F2E210-19E6-E5C8-B67C-C6B222406184}"/>
              </a:ext>
            </a:extLst>
          </p:cNvPr>
          <p:cNvCxnSpPr/>
          <p:nvPr/>
        </p:nvCxnSpPr>
        <p:spPr>
          <a:xfrm flipH="1" flipV="1">
            <a:off x="6537960" y="1829130"/>
            <a:ext cx="3431540" cy="11807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BFBFFF3-B0A5-3933-001D-C195D23AA6B2}"/>
              </a:ext>
            </a:extLst>
          </p:cNvPr>
          <p:cNvSpPr txBox="1"/>
          <p:nvPr/>
        </p:nvSpPr>
        <p:spPr>
          <a:xfrm>
            <a:off x="7696200" y="838200"/>
            <a:ext cx="3657600" cy="923330"/>
          </a:xfrm>
          <a:prstGeom prst="rect">
            <a:avLst/>
          </a:prstGeom>
          <a:noFill/>
        </p:spPr>
        <p:txBody>
          <a:bodyPr wrap="square" rtlCol="0">
            <a:spAutoFit/>
          </a:bodyPr>
          <a:lstStyle/>
          <a:p>
            <a:r>
              <a:rPr lang="en-US" altLang="zh-CN" dirty="0"/>
              <a:t>Mostly </a:t>
            </a:r>
          </a:p>
          <a:p>
            <a:r>
              <a:rPr lang="en-US" altLang="zh-CN" dirty="0"/>
              <a:t>Provided by an excel with these columns and should be auto filled</a:t>
            </a:r>
            <a:endParaRPr lang="zh-CN" altLang="en-US" dirty="0"/>
          </a:p>
        </p:txBody>
      </p:sp>
    </p:spTree>
    <p:extLst>
      <p:ext uri="{BB962C8B-B14F-4D97-AF65-F5344CB8AC3E}">
        <p14:creationId xmlns:p14="http://schemas.microsoft.com/office/powerpoint/2010/main" val="38589035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25</TotalTime>
  <Words>340</Words>
  <Application>Microsoft Office PowerPoint</Application>
  <PresentationFormat>Custom</PresentationFormat>
  <Paragraphs>62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Charles Zhou</dc:creator>
  <cp:lastModifiedBy>Charles Zhou</cp:lastModifiedBy>
  <cp:revision>5</cp:revision>
  <dcterms:created xsi:type="dcterms:W3CDTF">2025-11-16T04:41:52Z</dcterms:created>
  <dcterms:modified xsi:type="dcterms:W3CDTF">2025-11-17T13:14:52Z</dcterms:modified>
</cp:coreProperties>
</file>